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Rapid7 Vulnerability Scanning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for HashiCorp Vault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Eight ML1 &amp; ML2 Compliance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1371600"/>
            <a:ext cx="2011680" cy="2560320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0" y="1554480"/>
            <a:ext cx="1645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Presented By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Vault Business Owner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Audience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Technical &amp; Non-Technical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Stakeholders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April 2026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Version 2.0 | Updated with Coverage Gap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1097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Vulnerability Scanning for Vault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and risk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7863840" cy="347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Eight Framework Overview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controls relevant to Vault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1828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ML1 Requirements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frequency, scope, and SLAs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194560"/>
            <a:ext cx="7863840" cy="347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1945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2194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ML2 Requirements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2194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from ML1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560320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5603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2560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Rapid7 Covers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2560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agent and scan engine capabilities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2926080"/>
            <a:ext cx="7863840" cy="347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9260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80160" y="2926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Rapid7 Cannot Detect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gaps in Vault CVE detection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291840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2918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80160" y="3291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Compensating Controls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3291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HCSEC pipeline and remediation workflow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3657600"/>
            <a:ext cx="7863840" cy="347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6576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801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Responsibilities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0" y="3657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and team ownership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023360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0233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80160" y="4023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Reporting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0" y="4023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Cadence, dashboards, and evidence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389120"/>
            <a:ext cx="7863840" cy="347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389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280160" y="4389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Next Steps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0" y="4389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Vulnerability Scanning for Vault?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560320" cy="1371600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credentials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through Vault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2560320" cy="1371600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2560320" cy="1371600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48h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0936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 patch SLA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critical CVEs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</a:rPr>
              <a:t>Vault is the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59E0B"/>
                </a:solidFill>
              </a:rPr>
              <a:t>single most critical infrastructure component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</a:rPr>
              <a:t> in the organisation. A compromise of Vault = compromise of the entire credential ecosystem. Vulnerability scanning is not optional — it is a fundamental security control mandated by the Essential Eight framework.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ASD Essential Eight – Patch Applications + Patch Operating Systems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 Eight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eight mitigation strategies directly require vulnerability scanning of Vault infrastructure: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64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 Applications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and patch Vault binary, Go runtime, OpenSSL, and all server-side application packages within defined timeframes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ISM-1698, 1699, 1700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5448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664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 Operating Systems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0116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and patch RHEL 9 kernel, system libraries, systemd, and all OS packages on every Vault node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2651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ISM-1701, 1702, 1703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00400"/>
            <a:ext cx="64008" cy="1417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3101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Control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6576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ML2, ensure only approved executables run on internet-facing Vault servers (fapolicyd)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4297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ISM-1490, 1871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200400"/>
            <a:ext cx="64008" cy="1417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3101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 Backups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6576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recovery controls ensure Vault data survives incidents detected by scanning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4297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Supporting control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ISM Controls for Vault Scanning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7863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00400"/>
                <a:gridCol w="137160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ISM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ISM-1807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asset discovery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Fortnightly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ISM-1808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Up-to-date vulnerability database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each scan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ISM-1698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 scan of online services (Vault API)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ISM-1699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 scan of security products (SELinux, auditd)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ISM-1700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 scan of all other applications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Fortnightly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ISM-1701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 scan of internet-facing server 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ISM-1702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 scan of non-internet-facing server 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Fortnightly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ISM-1876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patches for online services within 48h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ISM-1703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Unsupported software removed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Maturity Level 1 — Scanning Requirements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1051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API surface (port 8200) + Internet-facing RHEL 9 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0" y="10515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 critical / 2 weeks non-critical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10515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ISM-1698, ISM-1701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5943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0992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17099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products: SELinux, auditd, firewalld, Rapid7 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17099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17099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ISM-1699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68296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6829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FORTNIGHTLY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236829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Non-internet-facing OS (DR Vault nodes)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36829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36829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ISM-1702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26664"/>
            <a:ext cx="8229600" cy="5943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02666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FORTNIGHTLY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30266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asset discovery of all Vault nodes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302666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302666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ISM-1807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85032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68503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0" y="36850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Up-to-date vulnerability database before each assessment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36850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36850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ISM-1808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3434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IMMEDIATE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28800" y="4343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software detection and removal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43434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removal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43434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ISM-1703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Maturity Level 2 — Additional Requirements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ML1 requirements carry forward. ML2 adds the following: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173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Fortnightly scan of ALL other applications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14173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curl, sudo, polkit, dbus, all libraries — ISM-1700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0" y="14173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scan scope required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93392"/>
            <a:ext cx="8229600" cy="51206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993392"/>
            <a:ext cx="54864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9933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199339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 SLA for critical CVEs on DR nodes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19933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Tightened from 1 month at ML1 — ISM-1702 enhancement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19933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patch process extends to DR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69464"/>
            <a:ext cx="82296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569464"/>
            <a:ext cx="54864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5694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256946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control on internet-facing servers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256946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fapolicyd must be active and enforcing — ISM-1490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256946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software deployment on Vault nodes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145536"/>
            <a:ext cx="8229600" cy="51206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145536"/>
            <a:ext cx="54864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145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14553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RHEL 9 Level 2 benchmark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314553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hardening assessment (vs Level 1 at ML1)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314553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configuration remediation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721608"/>
            <a:ext cx="82296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721608"/>
            <a:ext cx="54864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721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372160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 protection verification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31920" y="37216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audit logs and agent logs protected from modification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37216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permission and immutability controls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297680"/>
            <a:ext cx="8229600" cy="51206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4297680"/>
            <a:ext cx="54864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429768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4400" y="42976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review evidence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931920" y="429768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Fortnightly export of privileged account access — ISM-1380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66560" y="429768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evidence collection from InsightIDR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Rapid7 Insight Agent Covers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41148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0584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54864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00584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10058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9 Kernel &amp; 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017520" y="10058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kernel, glibc, systemd, openssh, chrony, NetworkManager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09360" y="10058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RPM inventory every 6h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554480"/>
            <a:ext cx="8229600" cy="475488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554480"/>
            <a:ext cx="54864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155448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15544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Libraries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017520" y="15544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openssl, gnutls, nss, libgcrypt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09360" y="15544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RPM inventory every 6h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21031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2103120"/>
            <a:ext cx="54864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210312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4400" y="21031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Products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017520" y="21031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SELinux, auditd, firewalld, rapid7-agent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09360" y="21031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RPM inventory every 6h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2651760"/>
            <a:ext cx="8229600" cy="475488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" y="2651760"/>
            <a:ext cx="54864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26517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2651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RPM Applications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017520" y="26517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python3, curl, sudo, polkit, dbus, bash, tar + 100 more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309360" y="26517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RPM inventory every 6h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7200" y="32004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457200" y="3200400"/>
            <a:ext cx="54864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320040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14400" y="32004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Configuration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017520" y="32004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8200/8201 cipher suites, certs, HSTS, headers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309360" y="32004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engine daily/weekly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7200" y="3749040"/>
            <a:ext cx="8229600" cy="475488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5" name="Shape 32"/>
          <p:cNvSpPr/>
          <p:nvPr/>
        </p:nvSpPr>
        <p:spPr>
          <a:xfrm>
            <a:off x="457200" y="3749040"/>
            <a:ext cx="54864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374904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✓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14400" y="3749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3017520" y="37490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RHEL 9 L1/L2, CIS Vault Benchmark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309360" y="37490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Broker every 24h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57200" y="42976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457200" y="4297680"/>
            <a:ext cx="54864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29768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✓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914400" y="42976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Exposure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3017520" y="42976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1–65535 from external perspective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309360" y="42976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engine weekly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4008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categories, 100+ packages — fully covered with zero gaps for all RPM-managed software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Rapid7 CANNOT Detect on Vault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84124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51560"/>
            <a:ext cx="54864" cy="8412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0515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✗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Vault Binary CVEs (HCSEC Advisories)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 is NOT in Rapid7’s recurring vulnerability coverage list. No HCSEC advisory mapping exists in Rapid7’s vulnerability database.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54880" y="1143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bypass, privilege escalation, seal vulnerabilities — highest-impact CVEs on a Vault deployment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011680"/>
            <a:ext cx="8229600" cy="84124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2011680"/>
            <a:ext cx="54864" cy="8412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011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✗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Vault Version (Standalone Binary)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deployed as standalone binary (most common), agent’s rpm -qa does not see it. Version is completely invisible to Rapid7.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54880" y="2103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determine if Vault is running a vulnerable version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971800"/>
            <a:ext cx="8229600" cy="84124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" y="2971800"/>
            <a:ext cx="54864" cy="8412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✗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1440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Embedded Go Runtime CVEs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version compiled into Vault binary is not exposed to agent or scan engine. vault version shows it, but Rapid7 does not run that command.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54880" y="3063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TLS parsing bugs, HTTP/2 DoS, crypto weaknesses — frequently Critical severity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3931920"/>
            <a:ext cx="8229600" cy="84124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4" name="Shape 21"/>
          <p:cNvSpPr/>
          <p:nvPr/>
        </p:nvSpPr>
        <p:spPr>
          <a:xfrm>
            <a:off x="457200" y="3931920"/>
            <a:ext cx="54864" cy="8412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" y="3931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✗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1440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Vault Plugin CVEs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1440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plugins are standalone binaries not tracked by RPM or Rapid7.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54880" y="4023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Plugin-specific vulnerabilities completely undetectable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Compensating Controls: HCSEC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pipeline that closes the Vault CVE detection gap. Runs alongside Rapid7, feeds the same Jira remediation workflow.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2801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128016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to each node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version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91640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74520" y="1463040"/>
            <a:ext cx="12801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74520" y="1463040"/>
            <a:ext cx="128016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87452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7452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2514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HCSEC feed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vuln DB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0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1463040"/>
            <a:ext cx="12801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463040"/>
            <a:ext cx="128016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9184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514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range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6280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12801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463040"/>
            <a:ext cx="128016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70916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2514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Rapid7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1463040"/>
            <a:ext cx="12801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463040"/>
            <a:ext cx="128016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12648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2514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 / 2wk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 deadlines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60920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543800" y="1463040"/>
            <a:ext cx="12801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43800" y="1463040"/>
            <a:ext cx="1280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754380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54380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43800" y="2514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re-collection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474720"/>
            <a:ext cx="3931920" cy="10972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RPM Packaging Strategy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Vault binary as internal RPM (vault-1.15.6-1.internal). Agent’s rpm -qa captures version for future Rapid7 HCSEC coverage if added.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474720"/>
            <a:ext cx="3931920" cy="10972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Coverage Re-Assessment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37760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checks quarterly if Rapid7 has added HashiCorp to recurring coverage. If yes, HCSEC pipeline is retired and Rapid7 becomes single source.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Responsibilities (RACI)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"/>
                <a:gridCol w="640080"/>
                <a:gridCol w="731520"/>
                <a:gridCol w="640080"/>
                <a:gridCol w="548640"/>
                <a:gridCol w="548640"/>
                <a:gridCol w="457200"/>
                <a:gridCol w="548640"/>
                <a:gridCol w="548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SecArch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VaultAdm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E8 Scanning Requirements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Deployment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 Triage &amp; Classification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OS/App Patch Remediation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 Binary Patching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HCSEC Pipeline Operation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SOAR Playbook Execution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E8 Compliance Reporting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Responsible (does the work)   A = Accountable (approves/owns)   C = Consulted   I = Informed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Reporting Cadence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54864" cy="4389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health check — all nodes reporting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9601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43891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63040"/>
            <a:ext cx="54864" cy="4389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14630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triage session (Rapid7 + HCSEC findings)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14630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965960"/>
            <a:ext cx="54864" cy="4389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6596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19659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 review and remediation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9659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43891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468880"/>
            <a:ext cx="54864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468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24688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 compliance report generation and CISO distribution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24688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971800"/>
            <a:ext cx="54864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9718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45920" y="297180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 maturity self-assessment and gap remediation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29718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43891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474720"/>
            <a:ext cx="54864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4747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45920" y="347472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playbook drill in DR environment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34747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97764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977640"/>
            <a:ext cx="54864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9776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Quarterly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45920" y="39776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Rapid7 HCSEC coverage re-assessment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0" y="39776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480560"/>
            <a:ext cx="8229600" cy="43891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4480560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48056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45920" y="44805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E8 maturity audit by external assessor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35040" y="44805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66928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10058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1–4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0058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ML1 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0058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deployment on all nodes. Daily + weekly scan templates. HCSEC pipeline v1. Remediation workflow.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8229600" cy="566928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642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166420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5–8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6642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ML1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6642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ML1 findings remediated &lt;5% Critical/High. Scan coverage 100%. Compliance dashboards operational.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8229600" cy="566928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2257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23225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9–12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23225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ML2 Scope Expansion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3225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All-apps scanning. fapolicyd deployment. CIS Level 2. Driver/firmware scanning.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80944"/>
            <a:ext cx="8229600" cy="566928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8094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298094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13–16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9809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ML2 SLA Tightening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9809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 SLA for DR critical CVEs. Event log protection. Privileged access review.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39312"/>
            <a:ext cx="8229600" cy="566928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3931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54480" y="363931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17–20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36393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ML2 Validation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36393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ML2 findings remediated. Full evidence artifact set. Internal E8 assessment.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8229600" cy="566928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976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54480" y="42976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Ongoing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0" y="4297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 &amp; Audit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42976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reporting. Quarterly assessment. Annual professional audit.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66928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566928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2471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0584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Rapid7 Insight Agent fully covers RHEL 9 OS layer — 100+ RPM packages, every 6 hours, exceeding all E8 scanning frequencies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64208"/>
            <a:ext cx="8229600" cy="566928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1664208"/>
            <a:ext cx="54864" cy="566928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166420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Rapid7 CANNOT detect Vault-specific CVEs (HCSEC) or embedded Go runtime CVEs — compensating controls are mandatory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322576"/>
            <a:ext cx="8229600" cy="566928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322576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4144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32257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HCSEC monitoring pipeline runs daily alongside Rapid7, producing Jira tickets in the same format with the same E8 SLA tracking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2980944"/>
            <a:ext cx="8229600" cy="566928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980944"/>
            <a:ext cx="54864" cy="56692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99816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298094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Essential Eight ISM controls are achievable: 4 natively via Rapid7, 5 with documented compensating controls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3639312"/>
            <a:ext cx="8229600" cy="566928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3639312"/>
            <a:ext cx="54864" cy="56692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58184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363931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RACI ownership across 9 teams — each team has defined responsibilities with CISO as ultimate accountable authority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57200" y="4297680"/>
            <a:ext cx="8229600" cy="566928"/>
          </a:xfrm>
          <a:prstGeom prst="rect">
            <a:avLst/>
          </a:prstGeom>
          <a:solidFill>
            <a:srgbClr val="162740"/>
          </a:solidFill>
          <a:ln/>
        </p:spPr>
      </p:sp>
      <p:sp>
        <p:nvSpPr>
          <p:cNvPr id="25" name="Shape 18"/>
          <p:cNvSpPr/>
          <p:nvPr/>
        </p:nvSpPr>
        <p:spPr>
          <a:xfrm>
            <a:off x="457200" y="4297680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16552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42976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maturity assessment and annual professional audit ensure continuous compliance progression from ML1 to ML2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Schedule team-specific deep-dive sessions for implementation details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Contact: </a:t>
            </a:r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</a:rPr>
              <a:t>Vault Business Owner / Security Architecture Team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Version 2.0 |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Rapid7 Vulnerability Scanning Requirements for HashiCorp Vault</dc:title>
  <dc:subject>PptxGenJS Presentation</dc:subject>
  <dc:creator>Vault Business Owner</dc:creator>
  <cp:lastModifiedBy>Vault Business Owner</cp:lastModifiedBy>
  <cp:revision>1</cp:revision>
  <dcterms:created xsi:type="dcterms:W3CDTF">2026-04-13T00:56:50Z</dcterms:created>
  <dcterms:modified xsi:type="dcterms:W3CDTF">2026-04-13T00:56:50Z</dcterms:modified>
</cp:coreProperties>
</file>